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attack date (June 27, 2017) and explain the key distinction: although it looked like ransomware demanding $300, forensic evidence showed the encryption key was erased immediately, proving its real goal was permanent destruction.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M.E.Doc was mandatory for business tax filings in Ukraine. By breaching the update server, attackers weaponized a trusted software channel to infect thousands of enterprise networks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NotPetya didn't rely on just one exploit. Even on patched systems, it stole domain credentials from infected RAM and used legitimate Windows admin tools (PsExec and WMI) to log in and infect neighboring machines.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destruction process: NotPetya triggered a reboot, showed a fake CHKDSK disk repair screen while encrypting file tables, and corrupted sector 0. Reverse engineering confirmed the installation key was randomly generated garbage, making recovery impossible.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scale: over $10 billion in damage across global supply chains. Forensic examiners proved the wiper behavior by inspecting raw disk sectors, memory dumps, Windows event logs, and M.E.Doc updater logs.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the main takeaway: NotPetya redefined cyber threat models. It proved that trusted updates can be backdoored and that digital forensics is critical to distinguish fake ransomware from state-sponsored cyber warfare.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a:spAutoFit/>
          </a:bodyPr>
          <a:lstStyle/>
          <a:p>
            <a:pPr>
              <a:defRPr sz="1100" b="1">
                <a:solidFill>
                  <a:srgbClr val="00E5FF"/>
                </a:solidFill>
                <a:latin typeface="Arial"/>
              </a:defRPr>
            </a:pPr>
            <a:r>
              <a:t>SLIDE 01 / 06 | INCIDENT OVERVIEW &amp; CLASSIFICATION</a:t>
            </a:r>
          </a:p>
        </p:txBody>
      </p:sp>
      <p:sp>
        <p:nvSpPr>
          <p:cNvPr id="3" name="TextBox 2"/>
          <p:cNvSpPr txBox="1"/>
          <p:nvPr/>
        </p:nvSpPr>
        <p:spPr>
          <a:xfrm>
            <a:off x="731520" y="777240"/>
            <a:ext cx="10728655" cy="731520"/>
          </a:xfrm>
          <a:prstGeom prst="rect">
            <a:avLst/>
          </a:prstGeom>
          <a:noFill/>
        </p:spPr>
        <p:txBody>
          <a:bodyPr wrap="square">
            <a:spAutoFit/>
          </a:bodyPr>
          <a:lstStyle/>
          <a:p>
            <a:pPr>
              <a:defRPr sz="2600" b="1">
                <a:solidFill>
                  <a:srgbClr val="FFFFFF"/>
                </a:solidFill>
                <a:latin typeface="Arial"/>
              </a:defRPr>
            </a:pPr>
            <a:r>
              <a:t>What is NotPetya?</a:t>
            </a:r>
          </a:p>
        </p:txBody>
      </p:sp>
      <p:sp>
        <p:nvSpPr>
          <p:cNvPr id="4" name="TextBox 3"/>
          <p:cNvSpPr txBox="1"/>
          <p:nvPr/>
        </p:nvSpPr>
        <p:spPr>
          <a:xfrm>
            <a:off x="731520" y="1508760"/>
            <a:ext cx="10728655" cy="91440"/>
          </a:xfrm>
          <a:prstGeom prst="rect">
            <a:avLst/>
          </a:prstGeom>
          <a:noFill/>
        </p:spPr>
        <p:txBody>
          <a:bodyPr wrap="none">
            <a:spAutoFit/>
          </a:bodyPr>
          <a:lstStyle/>
          <a:p>
            <a:pPr>
              <a:defRPr sz="1000">
                <a:solidFill>
                  <a:srgbClr val="64748B"/>
                </a:solidFill>
              </a:defRPr>
            </a:pPr>
            <a:r>
              <a:t>─────────────────────────────────────────────────────────────────────────────────────</a:t>
            </a:r>
          </a:p>
        </p:txBody>
      </p:sp>
      <p:sp>
        <p:nvSpPr>
          <p:cNvPr id="5" name="TextBox 4"/>
          <p:cNvSpPr txBox="1"/>
          <p:nvPr/>
        </p:nvSpPr>
        <p:spPr>
          <a:xfrm>
            <a:off x="731520" y="1645920"/>
            <a:ext cx="10728655" cy="4572000"/>
          </a:xfrm>
          <a:prstGeom prst="rect">
            <a:avLst/>
          </a:prstGeom>
          <a:noFill/>
        </p:spPr>
        <p:txBody>
          <a:bodyPr wrap="square" lIns="0" tIns="0">
            <a:spAutoFit/>
          </a:bodyPr>
          <a:lstStyle/>
          <a:p>
            <a:pPr>
              <a:lnSpc>
                <a:spcPct val="125000"/>
              </a:lnSpc>
              <a:spcAft>
                <a:spcPts val="1200"/>
              </a:spcAft>
            </a:pPr>
            <a:r>
              <a:rPr sz="1500">
                <a:solidFill>
                  <a:srgbClr val="00E5FF"/>
                </a:solidFill>
                <a:latin typeface="Arial"/>
              </a:rPr>
              <a:t>▪  </a:t>
            </a:r>
            <a:r>
              <a:rPr sz="1500" b="1">
                <a:solidFill>
                  <a:srgbClr val="38BDF8"/>
                </a:solidFill>
                <a:latin typeface="Arial"/>
              </a:rPr>
              <a:t>Initial Outbreak: </a:t>
            </a:r>
            <a:r>
              <a:rPr sz="1500" b="0">
                <a:solidFill>
                  <a:srgbClr val="E2E8F0"/>
                </a:solidFill>
                <a:latin typeface="Arial"/>
              </a:rPr>
              <a:t>NotPetya was a major cyberattack that began on </a:t>
            </a:r>
            <a:r>
              <a:rPr sz="1500" b="1">
                <a:solidFill>
                  <a:srgbClr val="38BDF8"/>
                </a:solidFill>
                <a:latin typeface="Arial"/>
              </a:rPr>
              <a:t>June 27, 2017</a:t>
            </a:r>
            <a:r>
              <a:rPr sz="1500" b="0">
                <a:solidFill>
                  <a:srgbClr val="E2E8F0"/>
                </a:solidFill>
                <a:latin typeface="Arial"/>
              </a:rPr>
              <a:t>.</a:t>
            </a:r>
          </a:p>
          <a:p>
            <a:pPr>
              <a:lnSpc>
                <a:spcPct val="125000"/>
              </a:lnSpc>
              <a:spcAft>
                <a:spcPts val="1200"/>
              </a:spcAft>
            </a:pPr>
            <a:r>
              <a:rPr sz="1500">
                <a:solidFill>
                  <a:srgbClr val="00E5FF"/>
                </a:solidFill>
                <a:latin typeface="Arial"/>
              </a:rPr>
              <a:t>▪  </a:t>
            </a:r>
            <a:r>
              <a:rPr sz="1500" b="1">
                <a:solidFill>
                  <a:srgbClr val="38BDF8"/>
                </a:solidFill>
                <a:latin typeface="Arial"/>
              </a:rPr>
              <a:t>Initial Appearance: </a:t>
            </a:r>
            <a:r>
              <a:rPr sz="1500" b="0">
                <a:solidFill>
                  <a:srgbClr val="E2E8F0"/>
                </a:solidFill>
                <a:latin typeface="Arial"/>
              </a:rPr>
              <a:t>Initially appeared to be ransomware, closely mimicking Petya ransomware.</a:t>
            </a:r>
          </a:p>
          <a:p>
            <a:pPr>
              <a:lnSpc>
                <a:spcPct val="125000"/>
              </a:lnSpc>
              <a:spcAft>
                <a:spcPts val="1200"/>
              </a:spcAft>
            </a:pPr>
            <a:r>
              <a:rPr sz="1500">
                <a:solidFill>
                  <a:srgbClr val="00E5FF"/>
                </a:solidFill>
                <a:latin typeface="Arial"/>
              </a:rPr>
              <a:t>▪  </a:t>
            </a:r>
            <a:r>
              <a:rPr sz="1500" b="1">
                <a:solidFill>
                  <a:srgbClr val="38BDF8"/>
                </a:solidFill>
                <a:latin typeface="Arial"/>
              </a:rPr>
              <a:t>Ransom Demand: </a:t>
            </a:r>
            <a:r>
              <a:rPr sz="1500" b="0">
                <a:solidFill>
                  <a:srgbClr val="E2E8F0"/>
                </a:solidFill>
                <a:latin typeface="Arial"/>
              </a:rPr>
              <a:t>Displayed a red lock-screen requiring a </a:t>
            </a:r>
            <a:r>
              <a:rPr sz="1500" b="1">
                <a:solidFill>
                  <a:srgbClr val="38BDF8"/>
                </a:solidFill>
                <a:latin typeface="Arial"/>
              </a:rPr>
              <a:t>$300 Bitcoin ransom</a:t>
            </a:r>
            <a:r>
              <a:rPr sz="1500" b="0">
                <a:solidFill>
                  <a:srgbClr val="E2E8F0"/>
                </a:solidFill>
                <a:latin typeface="Arial"/>
              </a:rPr>
              <a:t> payment.</a:t>
            </a:r>
          </a:p>
          <a:p>
            <a:pPr>
              <a:lnSpc>
                <a:spcPct val="125000"/>
              </a:lnSpc>
              <a:spcAft>
                <a:spcPts val="1200"/>
              </a:spcAft>
            </a:pPr>
            <a:r>
              <a:rPr sz="1500">
                <a:solidFill>
                  <a:srgbClr val="00E5FF"/>
                </a:solidFill>
                <a:latin typeface="Arial"/>
              </a:rPr>
              <a:t>▪  </a:t>
            </a:r>
            <a:r>
              <a:rPr sz="1500" b="1">
                <a:solidFill>
                  <a:srgbClr val="38BDF8"/>
                </a:solidFill>
                <a:latin typeface="Arial"/>
              </a:rPr>
              <a:t>True Technical Classification: </a:t>
            </a:r>
            <a:r>
              <a:rPr sz="1500" b="0">
                <a:solidFill>
                  <a:srgbClr val="E2E8F0"/>
                </a:solidFill>
                <a:latin typeface="Arial"/>
              </a:rPr>
              <a:t>Identified by digital forensics as a </a:t>
            </a:r>
            <a:r>
              <a:rPr sz="1500" b="1">
                <a:solidFill>
                  <a:srgbClr val="38BDF8"/>
                </a:solidFill>
                <a:latin typeface="Arial"/>
              </a:rPr>
              <a:t>destructive wiper</a:t>
            </a:r>
            <a:r>
              <a:rPr sz="1500" b="0">
                <a:solidFill>
                  <a:srgbClr val="E2E8F0"/>
                </a:solidFill>
                <a:latin typeface="Arial"/>
              </a:rPr>
              <a:t>, not genuine ransomware.</a:t>
            </a:r>
          </a:p>
          <a:p>
            <a:pPr>
              <a:lnSpc>
                <a:spcPct val="125000"/>
              </a:lnSpc>
              <a:spcAft>
                <a:spcPts val="1200"/>
              </a:spcAft>
            </a:pPr>
            <a:r>
              <a:rPr sz="1500">
                <a:solidFill>
                  <a:srgbClr val="00E5FF"/>
                </a:solidFill>
                <a:latin typeface="Arial"/>
              </a:rPr>
              <a:t>▪  </a:t>
            </a:r>
            <a:r>
              <a:rPr sz="1500" b="1">
                <a:solidFill>
                  <a:srgbClr val="38BDF8"/>
                </a:solidFill>
                <a:latin typeface="Arial"/>
              </a:rPr>
              <a:t>Primary Purpose: </a:t>
            </a:r>
            <a:r>
              <a:rPr sz="1500" b="0">
                <a:solidFill>
                  <a:srgbClr val="E2E8F0"/>
                </a:solidFill>
                <a:latin typeface="Arial"/>
              </a:rPr>
              <a:t>Designed strictly for </a:t>
            </a:r>
            <a:r>
              <a:rPr sz="1500" b="1">
                <a:solidFill>
                  <a:srgbClr val="38BDF8"/>
                </a:solidFill>
                <a:latin typeface="Arial"/>
              </a:rPr>
              <a:t>widespread disruption and permanent destruction</a:t>
            </a:r>
            <a:r>
              <a:rPr sz="1500" b="0">
                <a:solidFill>
                  <a:srgbClr val="E2E8F0"/>
                </a:solidFill>
                <a:latin typeface="Arial"/>
              </a:rPr>
              <a:t> rather than financial profit.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a:spAutoFit/>
          </a:bodyPr>
          <a:lstStyle/>
          <a:p>
            <a:pPr>
              <a:defRPr sz="1100" b="1">
                <a:solidFill>
                  <a:srgbClr val="00E5FF"/>
                </a:solidFill>
                <a:latin typeface="Arial"/>
              </a:defRPr>
            </a:pPr>
            <a:r>
              <a:t>SLIDE 02 / 06 | INITIAL ACCESS &amp; SUPPLY CHAIN VECTOR</a:t>
            </a:r>
          </a:p>
        </p:txBody>
      </p:sp>
      <p:sp>
        <p:nvSpPr>
          <p:cNvPr id="3" name="TextBox 2"/>
          <p:cNvSpPr txBox="1"/>
          <p:nvPr/>
        </p:nvSpPr>
        <p:spPr>
          <a:xfrm>
            <a:off x="731520" y="777240"/>
            <a:ext cx="10728655" cy="731520"/>
          </a:xfrm>
          <a:prstGeom prst="rect">
            <a:avLst/>
          </a:prstGeom>
          <a:noFill/>
        </p:spPr>
        <p:txBody>
          <a:bodyPr wrap="square">
            <a:spAutoFit/>
          </a:bodyPr>
          <a:lstStyle/>
          <a:p>
            <a:pPr>
              <a:defRPr sz="2600" b="1">
                <a:solidFill>
                  <a:srgbClr val="FFFFFF"/>
                </a:solidFill>
                <a:latin typeface="Arial"/>
              </a:defRPr>
            </a:pPr>
            <a:r>
              <a:t>Where Did It Start and How?</a:t>
            </a:r>
          </a:p>
        </p:txBody>
      </p:sp>
      <p:sp>
        <p:nvSpPr>
          <p:cNvPr id="4" name="TextBox 3"/>
          <p:cNvSpPr txBox="1"/>
          <p:nvPr/>
        </p:nvSpPr>
        <p:spPr>
          <a:xfrm>
            <a:off x="731520" y="1508760"/>
            <a:ext cx="10728655" cy="91440"/>
          </a:xfrm>
          <a:prstGeom prst="rect">
            <a:avLst/>
          </a:prstGeom>
          <a:noFill/>
        </p:spPr>
        <p:txBody>
          <a:bodyPr wrap="none">
            <a:spAutoFit/>
          </a:bodyPr>
          <a:lstStyle/>
          <a:p>
            <a:pPr>
              <a:defRPr sz="1000">
                <a:solidFill>
                  <a:srgbClr val="64748B"/>
                </a:solidFill>
              </a:defRPr>
            </a:pPr>
            <a:r>
              <a:t>─────────────────────────────────────────────────────────────────────────────────────</a:t>
            </a:r>
          </a:p>
        </p:txBody>
      </p:sp>
      <p:sp>
        <p:nvSpPr>
          <p:cNvPr id="5" name="TextBox 4"/>
          <p:cNvSpPr txBox="1"/>
          <p:nvPr/>
        </p:nvSpPr>
        <p:spPr>
          <a:xfrm>
            <a:off x="731520" y="1645920"/>
            <a:ext cx="10728655" cy="4572000"/>
          </a:xfrm>
          <a:prstGeom prst="rect">
            <a:avLst/>
          </a:prstGeom>
          <a:noFill/>
        </p:spPr>
        <p:txBody>
          <a:bodyPr wrap="square" lIns="0" tIns="0">
            <a:spAutoFit/>
          </a:bodyPr>
          <a:lstStyle/>
          <a:p>
            <a:pPr>
              <a:lnSpc>
                <a:spcPct val="125000"/>
              </a:lnSpc>
              <a:spcAft>
                <a:spcPts val="1200"/>
              </a:spcAft>
            </a:pPr>
            <a:r>
              <a:rPr sz="1500">
                <a:solidFill>
                  <a:srgbClr val="00E5FF"/>
                </a:solidFill>
                <a:latin typeface="Arial"/>
              </a:rPr>
              <a:t>▪  </a:t>
            </a:r>
            <a:r>
              <a:rPr sz="1500" b="1">
                <a:solidFill>
                  <a:srgbClr val="38BDF8"/>
                </a:solidFill>
                <a:latin typeface="Arial"/>
              </a:rPr>
              <a:t>Ground Zero: </a:t>
            </a:r>
            <a:r>
              <a:rPr sz="1500" b="0">
                <a:solidFill>
                  <a:srgbClr val="E2E8F0"/>
                </a:solidFill>
                <a:latin typeface="Arial"/>
              </a:rPr>
              <a:t>The attack primarily originated in </a:t>
            </a:r>
            <a:r>
              <a:rPr sz="1500" b="1">
                <a:solidFill>
                  <a:srgbClr val="38BDF8"/>
                </a:solidFill>
                <a:latin typeface="Arial"/>
              </a:rPr>
              <a:t>Ukraine</a:t>
            </a:r>
            <a:r>
              <a:rPr sz="1500" b="0">
                <a:solidFill>
                  <a:srgbClr val="E2E8F0"/>
                </a:solidFill>
                <a:latin typeface="Arial"/>
              </a:rPr>
              <a:t>.</a:t>
            </a:r>
          </a:p>
          <a:p>
            <a:pPr>
              <a:lnSpc>
                <a:spcPct val="125000"/>
              </a:lnSpc>
              <a:spcAft>
                <a:spcPts val="1200"/>
              </a:spcAft>
            </a:pPr>
            <a:r>
              <a:rPr sz="1500">
                <a:solidFill>
                  <a:srgbClr val="00E5FF"/>
                </a:solidFill>
                <a:latin typeface="Arial"/>
              </a:rPr>
              <a:t>▪  </a:t>
            </a:r>
            <a:r>
              <a:rPr sz="1500" b="1">
                <a:solidFill>
                  <a:srgbClr val="38BDF8"/>
                </a:solidFill>
                <a:latin typeface="Arial"/>
              </a:rPr>
              <a:t>Major Ukrainian Targets: </a:t>
            </a:r>
            <a:r>
              <a:rPr sz="1500" b="0">
                <a:solidFill>
                  <a:srgbClr val="E2E8F0"/>
                </a:solidFill>
                <a:latin typeface="Arial"/>
              </a:rPr>
              <a:t>Paralyzed government organizations, banks, energy companies, transportation, and media outlets.</a:t>
            </a:r>
          </a:p>
          <a:p>
            <a:pPr>
              <a:lnSpc>
                <a:spcPct val="125000"/>
              </a:lnSpc>
              <a:spcAft>
                <a:spcPts val="1200"/>
              </a:spcAft>
            </a:pPr>
            <a:r>
              <a:rPr sz="1500">
                <a:solidFill>
                  <a:srgbClr val="00E5FF"/>
                </a:solidFill>
                <a:latin typeface="Arial"/>
              </a:rPr>
              <a:t>▪  </a:t>
            </a:r>
            <a:r>
              <a:rPr sz="1500" b="1">
                <a:solidFill>
                  <a:srgbClr val="38BDF8"/>
                </a:solidFill>
                <a:latin typeface="Arial"/>
              </a:rPr>
              <a:t>Compromised Infrastructure: </a:t>
            </a:r>
            <a:r>
              <a:rPr sz="1500" b="0">
                <a:solidFill>
                  <a:srgbClr val="E2E8F0"/>
                </a:solidFill>
                <a:latin typeface="Arial"/>
              </a:rPr>
              <a:t>Attackers compromised the update servers of </a:t>
            </a:r>
            <a:r>
              <a:rPr sz="1500" b="1">
                <a:solidFill>
                  <a:srgbClr val="38BDF8"/>
                </a:solidFill>
                <a:latin typeface="Arial"/>
              </a:rPr>
              <a:t>M.E.Doc</a:t>
            </a:r>
            <a:r>
              <a:rPr sz="1500" b="0">
                <a:solidFill>
                  <a:srgbClr val="E2E8F0"/>
                </a:solidFill>
                <a:latin typeface="Arial"/>
              </a:rPr>
              <a:t>, a widely used Ukrainian accounting software.</a:t>
            </a:r>
          </a:p>
          <a:p>
            <a:pPr>
              <a:lnSpc>
                <a:spcPct val="125000"/>
              </a:lnSpc>
              <a:spcAft>
                <a:spcPts val="1200"/>
              </a:spcAft>
            </a:pPr>
            <a:r>
              <a:rPr sz="1500">
                <a:solidFill>
                  <a:srgbClr val="00E5FF"/>
                </a:solidFill>
                <a:latin typeface="Arial"/>
              </a:rPr>
              <a:t>▪  </a:t>
            </a:r>
            <a:r>
              <a:rPr sz="1500" b="1">
                <a:solidFill>
                  <a:srgbClr val="38BDF8"/>
                </a:solidFill>
                <a:latin typeface="Arial"/>
              </a:rPr>
              <a:t>Malicious Software Update: </a:t>
            </a:r>
            <a:r>
              <a:rPr sz="1500" b="0">
                <a:solidFill>
                  <a:srgbClr val="E2E8F0"/>
                </a:solidFill>
                <a:latin typeface="Arial"/>
              </a:rPr>
              <a:t>A backdoor-infected update was automatically distributed to legitimate customers.</a:t>
            </a:r>
          </a:p>
          <a:p>
            <a:pPr>
              <a:lnSpc>
                <a:spcPct val="125000"/>
              </a:lnSpc>
              <a:spcAft>
                <a:spcPts val="1200"/>
              </a:spcAft>
            </a:pPr>
            <a:r>
              <a:rPr sz="1500">
                <a:solidFill>
                  <a:srgbClr val="00E5FF"/>
                </a:solidFill>
                <a:latin typeface="Arial"/>
              </a:rPr>
              <a:t>▪  </a:t>
            </a:r>
            <a:r>
              <a:rPr sz="1500" b="1">
                <a:solidFill>
                  <a:srgbClr val="38BDF8"/>
                </a:solidFill>
                <a:latin typeface="Arial"/>
              </a:rPr>
              <a:t>Forensic Significance: </a:t>
            </a:r>
            <a:r>
              <a:rPr sz="1500" b="0">
                <a:solidFill>
                  <a:srgbClr val="E2E8F0"/>
                </a:solidFill>
                <a:latin typeface="Arial"/>
              </a:rPr>
              <a:t>Serves as a major real-world example of a catastrophic </a:t>
            </a:r>
            <a:r>
              <a:rPr sz="1500" b="1">
                <a:solidFill>
                  <a:srgbClr val="38BDF8"/>
                </a:solidFill>
                <a:latin typeface="Arial"/>
              </a:rPr>
              <a:t>software supply-chain attack</a:t>
            </a:r>
            <a:r>
              <a:rPr sz="1500" b="0">
                <a:solidFill>
                  <a:srgbClr val="E2E8F0"/>
                </a:solidFill>
                <a:latin typeface="Aria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a:spAutoFit/>
          </a:bodyPr>
          <a:lstStyle/>
          <a:p>
            <a:pPr>
              <a:defRPr sz="1100" b="1">
                <a:solidFill>
                  <a:srgbClr val="00E5FF"/>
                </a:solidFill>
                <a:latin typeface="Arial"/>
              </a:defRPr>
            </a:pPr>
            <a:r>
              <a:t>SLIDE 03 / 06 | PROPAGATION &amp; LATERAL MOVEMENT</a:t>
            </a:r>
          </a:p>
        </p:txBody>
      </p:sp>
      <p:sp>
        <p:nvSpPr>
          <p:cNvPr id="3" name="TextBox 2"/>
          <p:cNvSpPr txBox="1"/>
          <p:nvPr/>
        </p:nvSpPr>
        <p:spPr>
          <a:xfrm>
            <a:off x="731520" y="777240"/>
            <a:ext cx="10728655" cy="731520"/>
          </a:xfrm>
          <a:prstGeom prst="rect">
            <a:avLst/>
          </a:prstGeom>
          <a:noFill/>
        </p:spPr>
        <p:txBody>
          <a:bodyPr wrap="square">
            <a:spAutoFit/>
          </a:bodyPr>
          <a:lstStyle/>
          <a:p>
            <a:pPr>
              <a:defRPr sz="2600" b="1">
                <a:solidFill>
                  <a:srgbClr val="FFFFFF"/>
                </a:solidFill>
                <a:latin typeface="Arial"/>
              </a:defRPr>
            </a:pPr>
            <a:r>
              <a:t>How Did NotPetya Spread?</a:t>
            </a:r>
          </a:p>
        </p:txBody>
      </p:sp>
      <p:sp>
        <p:nvSpPr>
          <p:cNvPr id="4" name="TextBox 3"/>
          <p:cNvSpPr txBox="1"/>
          <p:nvPr/>
        </p:nvSpPr>
        <p:spPr>
          <a:xfrm>
            <a:off x="731520" y="1508760"/>
            <a:ext cx="10728655" cy="91440"/>
          </a:xfrm>
          <a:prstGeom prst="rect">
            <a:avLst/>
          </a:prstGeom>
          <a:noFill/>
        </p:spPr>
        <p:txBody>
          <a:bodyPr wrap="none">
            <a:spAutoFit/>
          </a:bodyPr>
          <a:lstStyle/>
          <a:p>
            <a:pPr>
              <a:defRPr sz="1000">
                <a:solidFill>
                  <a:srgbClr val="64748B"/>
                </a:solidFill>
              </a:defRPr>
            </a:pPr>
            <a:r>
              <a:t>─────────────────────────────────────────────────────────────────────────────────────</a:t>
            </a:r>
          </a:p>
        </p:txBody>
      </p:sp>
      <p:sp>
        <p:nvSpPr>
          <p:cNvPr id="5" name="TextBox 4"/>
          <p:cNvSpPr txBox="1"/>
          <p:nvPr/>
        </p:nvSpPr>
        <p:spPr>
          <a:xfrm>
            <a:off x="731520" y="1645920"/>
            <a:ext cx="10728655" cy="4572000"/>
          </a:xfrm>
          <a:prstGeom prst="rect">
            <a:avLst/>
          </a:prstGeom>
          <a:noFill/>
        </p:spPr>
        <p:txBody>
          <a:bodyPr wrap="square" lIns="0" tIns="0">
            <a:spAutoFit/>
          </a:bodyPr>
          <a:lstStyle/>
          <a:p>
            <a:pPr>
              <a:lnSpc>
                <a:spcPct val="125000"/>
              </a:lnSpc>
              <a:spcAft>
                <a:spcPts val="1200"/>
              </a:spcAft>
            </a:pPr>
            <a:r>
              <a:rPr sz="1500">
                <a:solidFill>
                  <a:srgbClr val="00E5FF"/>
                </a:solidFill>
                <a:latin typeface="Arial"/>
              </a:rPr>
              <a:t>▪  </a:t>
            </a:r>
            <a:r>
              <a:rPr sz="1500" b="1">
                <a:solidFill>
                  <a:srgbClr val="38BDF8"/>
                </a:solidFill>
                <a:latin typeface="Arial"/>
              </a:rPr>
              <a:t>EternalBlue: </a:t>
            </a:r>
            <a:r>
              <a:rPr sz="1500" b="0">
                <a:solidFill>
                  <a:srgbClr val="E2E8F0"/>
                </a:solidFill>
                <a:latin typeface="Arial"/>
              </a:rPr>
              <a:t>Exploited CVE-2017-0144 vulnerability in Windows SMBv1 protocol for remote code execution.</a:t>
            </a:r>
          </a:p>
          <a:p>
            <a:pPr>
              <a:lnSpc>
                <a:spcPct val="125000"/>
              </a:lnSpc>
              <a:spcAft>
                <a:spcPts val="1200"/>
              </a:spcAft>
            </a:pPr>
            <a:r>
              <a:rPr sz="1500">
                <a:solidFill>
                  <a:srgbClr val="00E5FF"/>
                </a:solidFill>
                <a:latin typeface="Arial"/>
              </a:rPr>
              <a:t>▪  </a:t>
            </a:r>
            <a:r>
              <a:rPr sz="1500" b="1">
                <a:solidFill>
                  <a:srgbClr val="38BDF8"/>
                </a:solidFill>
                <a:latin typeface="Arial"/>
              </a:rPr>
              <a:t>EternalRomance: </a:t>
            </a:r>
            <a:r>
              <a:rPr sz="1500" b="0">
                <a:solidFill>
                  <a:srgbClr val="E2E8F0"/>
                </a:solidFill>
                <a:latin typeface="Arial"/>
              </a:rPr>
              <a:t>Utilized another SMBv1 exploitation technique for remote privilege escalation.</a:t>
            </a:r>
          </a:p>
          <a:p>
            <a:pPr>
              <a:lnSpc>
                <a:spcPct val="125000"/>
              </a:lnSpc>
              <a:spcAft>
                <a:spcPts val="1200"/>
              </a:spcAft>
            </a:pPr>
            <a:r>
              <a:rPr sz="1500">
                <a:solidFill>
                  <a:srgbClr val="00E5FF"/>
                </a:solidFill>
                <a:latin typeface="Arial"/>
              </a:rPr>
              <a:t>▪  </a:t>
            </a:r>
            <a:r>
              <a:rPr sz="1500" b="1">
                <a:solidFill>
                  <a:srgbClr val="38BDF8"/>
                </a:solidFill>
                <a:latin typeface="Arial"/>
              </a:rPr>
              <a:t>Credential Theft: </a:t>
            </a:r>
            <a:r>
              <a:rPr sz="1500" b="0">
                <a:solidFill>
                  <a:srgbClr val="E2E8F0"/>
                </a:solidFill>
                <a:latin typeface="Arial"/>
              </a:rPr>
              <a:t>Scraped active administrator credentials and password hashes directly from infected system memory (LSASS).</a:t>
            </a:r>
          </a:p>
          <a:p>
            <a:pPr>
              <a:lnSpc>
                <a:spcPct val="125000"/>
              </a:lnSpc>
              <a:spcAft>
                <a:spcPts val="1200"/>
              </a:spcAft>
            </a:pPr>
            <a:r>
              <a:rPr sz="1500">
                <a:solidFill>
                  <a:srgbClr val="00E5FF"/>
                </a:solidFill>
                <a:latin typeface="Arial"/>
              </a:rPr>
              <a:t>▪  </a:t>
            </a:r>
            <a:r>
              <a:rPr sz="1500" b="1">
                <a:solidFill>
                  <a:srgbClr val="38BDF8"/>
                </a:solidFill>
                <a:latin typeface="Arial"/>
              </a:rPr>
              <a:t>PsExec: </a:t>
            </a:r>
            <a:r>
              <a:rPr sz="1500" b="0">
                <a:solidFill>
                  <a:srgbClr val="E2E8F0"/>
                </a:solidFill>
                <a:latin typeface="Arial"/>
              </a:rPr>
              <a:t>Used legitimate Windows administration utility (PsExec) to execute payloads remotely on connected hosts.</a:t>
            </a:r>
          </a:p>
          <a:p>
            <a:pPr>
              <a:lnSpc>
                <a:spcPct val="125000"/>
              </a:lnSpc>
              <a:spcAft>
                <a:spcPts val="1200"/>
              </a:spcAft>
            </a:pPr>
            <a:r>
              <a:rPr sz="1500">
                <a:solidFill>
                  <a:srgbClr val="00E5FF"/>
                </a:solidFill>
                <a:latin typeface="Arial"/>
              </a:rPr>
              <a:t>▪  </a:t>
            </a:r>
            <a:r>
              <a:rPr sz="1500" b="1">
                <a:solidFill>
                  <a:srgbClr val="38BDF8"/>
                </a:solidFill>
                <a:latin typeface="Arial"/>
              </a:rPr>
              <a:t>WMI (Windows Management Instrumentation): </a:t>
            </a:r>
            <a:r>
              <a:rPr sz="1500" b="0">
                <a:solidFill>
                  <a:srgbClr val="E2E8F0"/>
                </a:solidFill>
                <a:latin typeface="Arial"/>
              </a:rPr>
              <a:t>Used native WMI commands for stealthy remote execution.</a:t>
            </a:r>
          </a:p>
          <a:p>
            <a:pPr>
              <a:lnSpc>
                <a:spcPct val="125000"/>
              </a:lnSpc>
              <a:spcAft>
                <a:spcPts val="1200"/>
              </a:spcAft>
            </a:pPr>
            <a:r>
              <a:rPr sz="1500">
                <a:solidFill>
                  <a:srgbClr val="00E5FF"/>
                </a:solidFill>
                <a:latin typeface="Arial"/>
              </a:rPr>
              <a:t>▪  </a:t>
            </a:r>
            <a:r>
              <a:rPr sz="1500" b="1">
                <a:solidFill>
                  <a:srgbClr val="38BDF8"/>
                </a:solidFill>
                <a:latin typeface="Arial"/>
              </a:rPr>
              <a:t>Rapid Propagation: </a:t>
            </a:r>
            <a:r>
              <a:rPr sz="1500" b="0">
                <a:solidFill>
                  <a:srgbClr val="E2E8F0"/>
                </a:solidFill>
                <a:latin typeface="Arial"/>
              </a:rPr>
              <a:t>Once inside an organization, NotPetya could spread rapidly across connected domain systems within minutes.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a:spAutoFit/>
          </a:bodyPr>
          <a:lstStyle/>
          <a:p>
            <a:pPr>
              <a:defRPr sz="1100" b="1">
                <a:solidFill>
                  <a:srgbClr val="00E5FF"/>
                </a:solidFill>
                <a:latin typeface="Arial"/>
              </a:defRPr>
            </a:pPr>
            <a:r>
              <a:t>SLIDE 04 / 06 | PAYLOAD EXECUTION &amp; SYSTEM DESTRUCTION</a:t>
            </a:r>
          </a:p>
        </p:txBody>
      </p:sp>
      <p:sp>
        <p:nvSpPr>
          <p:cNvPr id="3" name="TextBox 2"/>
          <p:cNvSpPr txBox="1"/>
          <p:nvPr/>
        </p:nvSpPr>
        <p:spPr>
          <a:xfrm>
            <a:off x="731520" y="777240"/>
            <a:ext cx="10728655" cy="731520"/>
          </a:xfrm>
          <a:prstGeom prst="rect">
            <a:avLst/>
          </a:prstGeom>
          <a:noFill/>
        </p:spPr>
        <p:txBody>
          <a:bodyPr wrap="square">
            <a:spAutoFit/>
          </a:bodyPr>
          <a:lstStyle/>
          <a:p>
            <a:pPr>
              <a:defRPr sz="2600" b="1">
                <a:solidFill>
                  <a:srgbClr val="FFFFFF"/>
                </a:solidFill>
                <a:latin typeface="Arial"/>
              </a:defRPr>
            </a:pPr>
            <a:r>
              <a:t>What Happened to Infected Systems?</a:t>
            </a:r>
          </a:p>
        </p:txBody>
      </p:sp>
      <p:sp>
        <p:nvSpPr>
          <p:cNvPr id="4" name="TextBox 3"/>
          <p:cNvSpPr txBox="1"/>
          <p:nvPr/>
        </p:nvSpPr>
        <p:spPr>
          <a:xfrm>
            <a:off x="731520" y="1508760"/>
            <a:ext cx="10728655" cy="91440"/>
          </a:xfrm>
          <a:prstGeom prst="rect">
            <a:avLst/>
          </a:prstGeom>
          <a:noFill/>
        </p:spPr>
        <p:txBody>
          <a:bodyPr wrap="none">
            <a:spAutoFit/>
          </a:bodyPr>
          <a:lstStyle/>
          <a:p>
            <a:pPr>
              <a:defRPr sz="1000">
                <a:solidFill>
                  <a:srgbClr val="64748B"/>
                </a:solidFill>
              </a:defRPr>
            </a:pPr>
            <a:r>
              <a:t>─────────────────────────────────────────────────────────────────────────────────────</a:t>
            </a:r>
          </a:p>
        </p:txBody>
      </p:sp>
      <p:sp>
        <p:nvSpPr>
          <p:cNvPr id="5" name="TextBox 4"/>
          <p:cNvSpPr txBox="1"/>
          <p:nvPr/>
        </p:nvSpPr>
        <p:spPr>
          <a:xfrm>
            <a:off x="731520" y="1645920"/>
            <a:ext cx="10728655" cy="4572000"/>
          </a:xfrm>
          <a:prstGeom prst="rect">
            <a:avLst/>
          </a:prstGeom>
          <a:noFill/>
        </p:spPr>
        <p:txBody>
          <a:bodyPr wrap="square" lIns="0" tIns="0">
            <a:spAutoFit/>
          </a:bodyPr>
          <a:lstStyle/>
          <a:p>
            <a:pPr>
              <a:lnSpc>
                <a:spcPct val="125000"/>
              </a:lnSpc>
              <a:spcAft>
                <a:spcPts val="1200"/>
              </a:spcAft>
            </a:pPr>
            <a:r>
              <a:rPr sz="1500">
                <a:solidFill>
                  <a:srgbClr val="00E5FF"/>
                </a:solidFill>
                <a:latin typeface="Arial"/>
              </a:rPr>
              <a:t>▪  </a:t>
            </a:r>
            <a:r>
              <a:rPr sz="1500" b="1">
                <a:solidFill>
                  <a:srgbClr val="38BDF8"/>
                </a:solidFill>
                <a:latin typeface="Arial"/>
              </a:rPr>
              <a:t>Payload Execution: </a:t>
            </a:r>
            <a:r>
              <a:rPr sz="1500" b="0">
                <a:solidFill>
                  <a:srgbClr val="E2E8F0"/>
                </a:solidFill>
                <a:latin typeface="Arial"/>
              </a:rPr>
              <a:t>The malicious update executed NotPetya on the victim's computer with administrative rights.</a:t>
            </a:r>
          </a:p>
          <a:p>
            <a:pPr>
              <a:lnSpc>
                <a:spcPct val="125000"/>
              </a:lnSpc>
              <a:spcAft>
                <a:spcPts val="1200"/>
              </a:spcAft>
            </a:pPr>
            <a:r>
              <a:rPr sz="1500">
                <a:solidFill>
                  <a:srgbClr val="00E5FF"/>
                </a:solidFill>
                <a:latin typeface="Arial"/>
              </a:rPr>
              <a:t>▪  </a:t>
            </a:r>
            <a:r>
              <a:rPr sz="1500" b="1">
                <a:solidFill>
                  <a:srgbClr val="38BDF8"/>
                </a:solidFill>
                <a:latin typeface="Arial"/>
              </a:rPr>
              <a:t>Reconnaissance &amp; Movement: </a:t>
            </a:r>
            <a:r>
              <a:rPr sz="1500" b="0">
                <a:solidFill>
                  <a:srgbClr val="E2E8F0"/>
                </a:solidFill>
                <a:latin typeface="Arial"/>
              </a:rPr>
              <a:t>Harvested credentials and moved laterally through the internal network.</a:t>
            </a:r>
          </a:p>
          <a:p>
            <a:pPr>
              <a:lnSpc>
                <a:spcPct val="125000"/>
              </a:lnSpc>
              <a:spcAft>
                <a:spcPts val="1200"/>
              </a:spcAft>
            </a:pPr>
            <a:r>
              <a:rPr sz="1500">
                <a:solidFill>
                  <a:srgbClr val="00E5FF"/>
                </a:solidFill>
                <a:latin typeface="Arial"/>
              </a:rPr>
              <a:t>▪  </a:t>
            </a:r>
            <a:r>
              <a:rPr sz="1500" b="1">
                <a:solidFill>
                  <a:srgbClr val="38BDF8"/>
                </a:solidFill>
                <a:latin typeface="Arial"/>
              </a:rPr>
              <a:t>MBR Destruction: </a:t>
            </a:r>
            <a:r>
              <a:rPr sz="1500" b="0">
                <a:solidFill>
                  <a:srgbClr val="E2E8F0"/>
                </a:solidFill>
                <a:latin typeface="Arial"/>
              </a:rPr>
              <a:t>Targeted and corrupted the </a:t>
            </a:r>
            <a:r>
              <a:rPr sz="1500" b="1">
                <a:solidFill>
                  <a:srgbClr val="38BDF8"/>
                </a:solidFill>
                <a:latin typeface="Arial"/>
              </a:rPr>
              <a:t>Master Boot Record (MBR)</a:t>
            </a:r>
            <a:r>
              <a:rPr sz="1500" b="0">
                <a:solidFill>
                  <a:srgbClr val="E2E8F0"/>
                </a:solidFill>
                <a:latin typeface="Arial"/>
              </a:rPr>
              <a:t> and Master File Table (MFT).</a:t>
            </a:r>
          </a:p>
          <a:p>
            <a:pPr>
              <a:lnSpc>
                <a:spcPct val="125000"/>
              </a:lnSpc>
              <a:spcAft>
                <a:spcPts val="1200"/>
              </a:spcAft>
            </a:pPr>
            <a:r>
              <a:rPr sz="1500">
                <a:solidFill>
                  <a:srgbClr val="00E5FF"/>
                </a:solidFill>
                <a:latin typeface="Arial"/>
              </a:rPr>
              <a:t>▪  </a:t>
            </a:r>
            <a:r>
              <a:rPr sz="1500" b="1">
                <a:solidFill>
                  <a:srgbClr val="38BDF8"/>
                </a:solidFill>
                <a:latin typeface="Arial"/>
              </a:rPr>
              <a:t>System Inoperability: </a:t>
            </a:r>
            <a:r>
              <a:rPr sz="1500" b="0">
                <a:solidFill>
                  <a:srgbClr val="E2E8F0"/>
                </a:solidFill>
                <a:latin typeface="Arial"/>
              </a:rPr>
              <a:t>Forced a reboot, displaying a fake chkdsk screen before rendering the operating system completely unbootable.</a:t>
            </a:r>
          </a:p>
          <a:p>
            <a:pPr>
              <a:lnSpc>
                <a:spcPct val="125000"/>
              </a:lnSpc>
              <a:spcAft>
                <a:spcPts val="1200"/>
              </a:spcAft>
            </a:pPr>
            <a:r>
              <a:rPr sz="1500">
                <a:solidFill>
                  <a:srgbClr val="00E5FF"/>
                </a:solidFill>
                <a:latin typeface="Arial"/>
              </a:rPr>
              <a:t>▪  </a:t>
            </a:r>
            <a:r>
              <a:rPr sz="1500" b="1">
                <a:solidFill>
                  <a:srgbClr val="38BDF8"/>
                </a:solidFill>
                <a:latin typeface="Arial"/>
              </a:rPr>
              <a:t>Ransom Message: </a:t>
            </a:r>
            <a:r>
              <a:rPr sz="1500" b="0">
                <a:solidFill>
                  <a:srgbClr val="E2E8F0"/>
                </a:solidFill>
                <a:latin typeface="Arial"/>
              </a:rPr>
              <a:t>Displayed a ransom message demanding $300 in Bitcoin for file recovery.</a:t>
            </a:r>
          </a:p>
          <a:p>
            <a:pPr>
              <a:lnSpc>
                <a:spcPct val="125000"/>
              </a:lnSpc>
              <a:spcAft>
                <a:spcPts val="1200"/>
              </a:spcAft>
            </a:pPr>
            <a:r>
              <a:rPr sz="1500">
                <a:solidFill>
                  <a:srgbClr val="00E5FF"/>
                </a:solidFill>
                <a:latin typeface="Arial"/>
              </a:rPr>
              <a:t>▪  </a:t>
            </a:r>
            <a:r>
              <a:rPr sz="1500" b="1">
                <a:solidFill>
                  <a:srgbClr val="38BDF8"/>
                </a:solidFill>
                <a:latin typeface="Arial"/>
              </a:rPr>
              <a:t>Irrecoverable Recovery Mechanism: </a:t>
            </a:r>
            <a:r>
              <a:rPr sz="1500" b="0">
                <a:solidFill>
                  <a:srgbClr val="E2E8F0"/>
                </a:solidFill>
                <a:latin typeface="Arial"/>
              </a:rPr>
              <a:t>Victims did not have a reliable method to recover files by paying; key was discarded, proving intentional destruction.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a:spAutoFit/>
          </a:bodyPr>
          <a:lstStyle/>
          <a:p>
            <a:pPr>
              <a:defRPr sz="1100" b="1">
                <a:solidFill>
                  <a:srgbClr val="00E5FF"/>
                </a:solidFill>
                <a:latin typeface="Arial"/>
              </a:defRPr>
            </a:pPr>
            <a:r>
              <a:t>SLIDE 05 / 06 | GLOBAL IMPACT &amp; DIGITAL FORENSICS INVESTIGATION</a:t>
            </a:r>
          </a:p>
        </p:txBody>
      </p:sp>
      <p:sp>
        <p:nvSpPr>
          <p:cNvPr id="3" name="TextBox 2"/>
          <p:cNvSpPr txBox="1"/>
          <p:nvPr/>
        </p:nvSpPr>
        <p:spPr>
          <a:xfrm>
            <a:off x="731520" y="777240"/>
            <a:ext cx="10728655" cy="731520"/>
          </a:xfrm>
          <a:prstGeom prst="rect">
            <a:avLst/>
          </a:prstGeom>
          <a:noFill/>
        </p:spPr>
        <p:txBody>
          <a:bodyPr wrap="square">
            <a:spAutoFit/>
          </a:bodyPr>
          <a:lstStyle/>
          <a:p>
            <a:pPr>
              <a:defRPr sz="2600" b="1">
                <a:solidFill>
                  <a:srgbClr val="FFFFFF"/>
                </a:solidFill>
                <a:latin typeface="Arial"/>
              </a:defRPr>
            </a:pPr>
            <a:r>
              <a:t>Major Impact and Digital Forensic Investigation</a:t>
            </a:r>
          </a:p>
        </p:txBody>
      </p:sp>
      <p:sp>
        <p:nvSpPr>
          <p:cNvPr id="4" name="TextBox 3"/>
          <p:cNvSpPr txBox="1"/>
          <p:nvPr/>
        </p:nvSpPr>
        <p:spPr>
          <a:xfrm>
            <a:off x="731520" y="1508760"/>
            <a:ext cx="10728655" cy="91440"/>
          </a:xfrm>
          <a:prstGeom prst="rect">
            <a:avLst/>
          </a:prstGeom>
          <a:noFill/>
        </p:spPr>
        <p:txBody>
          <a:bodyPr wrap="none">
            <a:spAutoFit/>
          </a:bodyPr>
          <a:lstStyle/>
          <a:p>
            <a:pPr>
              <a:defRPr sz="1000">
                <a:solidFill>
                  <a:srgbClr val="64748B"/>
                </a:solidFill>
              </a:defRPr>
            </a:pPr>
            <a:r>
              <a:t>─────────────────────────────────────────────────────────────────────────────────────</a:t>
            </a:r>
          </a:p>
        </p:txBody>
      </p:sp>
      <p:sp>
        <p:nvSpPr>
          <p:cNvPr id="5" name="TextBox 4"/>
          <p:cNvSpPr txBox="1"/>
          <p:nvPr/>
        </p:nvSpPr>
        <p:spPr>
          <a:xfrm>
            <a:off x="731520" y="1645920"/>
            <a:ext cx="10728655" cy="4572000"/>
          </a:xfrm>
          <a:prstGeom prst="rect">
            <a:avLst/>
          </a:prstGeom>
          <a:noFill/>
        </p:spPr>
        <p:txBody>
          <a:bodyPr wrap="square" lIns="0" tIns="0">
            <a:spAutoFit/>
          </a:bodyPr>
          <a:lstStyle/>
          <a:p>
            <a:pPr>
              <a:lnSpc>
                <a:spcPct val="125000"/>
              </a:lnSpc>
              <a:spcAft>
                <a:spcPts val="1200"/>
              </a:spcAft>
            </a:pPr>
            <a:r>
              <a:rPr sz="1500">
                <a:solidFill>
                  <a:srgbClr val="00E5FF"/>
                </a:solidFill>
                <a:latin typeface="Arial"/>
              </a:rPr>
              <a:t>▪  </a:t>
            </a:r>
            <a:r>
              <a:rPr sz="1500" b="1">
                <a:solidFill>
                  <a:srgbClr val="38BDF8"/>
                </a:solidFill>
                <a:latin typeface="Arial"/>
              </a:rPr>
              <a:t>Major Organizations Affected:</a:t>
            </a:r>
          </a:p>
          <a:p>
            <a:pPr>
              <a:lnSpc>
                <a:spcPct val="125000"/>
              </a:lnSpc>
              <a:spcAft>
                <a:spcPts val="1200"/>
              </a:spcAft>
            </a:pPr>
            <a:r>
              <a:rPr sz="1500">
                <a:solidFill>
                  <a:srgbClr val="00E5FF"/>
                </a:solidFill>
                <a:latin typeface="Arial"/>
              </a:rPr>
              <a:t>▪  </a:t>
            </a:r>
            <a:r>
              <a:rPr sz="1500" b="1">
                <a:solidFill>
                  <a:srgbClr val="38BDF8"/>
                </a:solidFill>
                <a:latin typeface="Arial"/>
              </a:rPr>
              <a:t>   • Maersk: </a:t>
            </a:r>
            <a:r>
              <a:rPr sz="1500" b="0">
                <a:solidFill>
                  <a:srgbClr val="E2E8F0"/>
                </a:solidFill>
                <a:latin typeface="Arial"/>
              </a:rPr>
              <a:t>World's largest shipping container firm; IT infrastructure paralyzed (45,000 PCs destroyed).</a:t>
            </a:r>
          </a:p>
          <a:p>
            <a:pPr>
              <a:lnSpc>
                <a:spcPct val="125000"/>
              </a:lnSpc>
              <a:spcAft>
                <a:spcPts val="1200"/>
              </a:spcAft>
            </a:pPr>
            <a:r>
              <a:rPr sz="1500">
                <a:solidFill>
                  <a:srgbClr val="00E5FF"/>
                </a:solidFill>
                <a:latin typeface="Arial"/>
              </a:rPr>
              <a:t>▪  </a:t>
            </a:r>
            <a:r>
              <a:rPr sz="1500" b="1">
                <a:solidFill>
                  <a:srgbClr val="38BDF8"/>
                </a:solidFill>
                <a:latin typeface="Arial"/>
              </a:rPr>
              <a:t>   • Merck: </a:t>
            </a:r>
            <a:r>
              <a:rPr sz="1500" b="0">
                <a:solidFill>
                  <a:srgbClr val="E2E8F0"/>
                </a:solidFill>
                <a:latin typeface="Arial"/>
              </a:rPr>
              <a:t>Global pharmaceutical leader; vaccine manufacturing disrupted.</a:t>
            </a:r>
          </a:p>
          <a:p>
            <a:pPr>
              <a:lnSpc>
                <a:spcPct val="125000"/>
              </a:lnSpc>
              <a:spcAft>
                <a:spcPts val="1200"/>
              </a:spcAft>
            </a:pPr>
            <a:r>
              <a:rPr sz="1500">
                <a:solidFill>
                  <a:srgbClr val="00E5FF"/>
                </a:solidFill>
                <a:latin typeface="Arial"/>
              </a:rPr>
              <a:t>▪  </a:t>
            </a:r>
            <a:r>
              <a:rPr sz="1500" b="1">
                <a:solidFill>
                  <a:srgbClr val="38BDF8"/>
                </a:solidFill>
                <a:latin typeface="Arial"/>
              </a:rPr>
              <a:t>   • FedEx / TNT Express: </a:t>
            </a:r>
            <a:r>
              <a:rPr sz="1500" b="0">
                <a:solidFill>
                  <a:srgbClr val="E2E8F0"/>
                </a:solidFill>
                <a:latin typeface="Arial"/>
              </a:rPr>
              <a:t>European parcel delivery network crippled.</a:t>
            </a:r>
          </a:p>
          <a:p>
            <a:pPr>
              <a:lnSpc>
                <a:spcPct val="125000"/>
              </a:lnSpc>
              <a:spcAft>
                <a:spcPts val="1200"/>
              </a:spcAft>
            </a:pPr>
            <a:r>
              <a:rPr sz="1500">
                <a:solidFill>
                  <a:srgbClr val="00E5FF"/>
                </a:solidFill>
                <a:latin typeface="Arial"/>
              </a:rPr>
              <a:t>▪  </a:t>
            </a:r>
            <a:r>
              <a:rPr sz="1500" b="1">
                <a:solidFill>
                  <a:srgbClr val="38BDF8"/>
                </a:solidFill>
                <a:latin typeface="Arial"/>
              </a:rPr>
              <a:t>   • Mondelez &amp; Saint-Gobain: </a:t>
            </a:r>
            <a:r>
              <a:rPr sz="1500" b="0">
                <a:solidFill>
                  <a:srgbClr val="E2E8F0"/>
                </a:solidFill>
                <a:latin typeface="Arial"/>
              </a:rPr>
              <a:t>Multinational food and industrial manufacturing halted.</a:t>
            </a:r>
          </a:p>
          <a:p>
            <a:pPr>
              <a:lnSpc>
                <a:spcPct val="125000"/>
              </a:lnSpc>
              <a:spcAft>
                <a:spcPts val="1200"/>
              </a:spcAft>
            </a:pPr>
            <a:r>
              <a:rPr sz="1500">
                <a:solidFill>
                  <a:srgbClr val="00E5FF"/>
                </a:solidFill>
                <a:latin typeface="Arial"/>
              </a:rPr>
              <a:t>▪  </a:t>
            </a:r>
            <a:r>
              <a:rPr sz="1500" b="1">
                <a:solidFill>
                  <a:srgbClr val="38BDF8"/>
                </a:solidFill>
                <a:latin typeface="Arial"/>
              </a:rPr>
              <a:t>Global Economic Loss: </a:t>
            </a:r>
            <a:r>
              <a:rPr sz="1500" b="0">
                <a:solidFill>
                  <a:srgbClr val="E2E8F0"/>
                </a:solidFill>
                <a:latin typeface="Arial"/>
              </a:rPr>
              <a:t>Disruption to shipping and logistics led to estimated global losses of </a:t>
            </a:r>
            <a:r>
              <a:rPr sz="1500" b="1">
                <a:solidFill>
                  <a:srgbClr val="38BDF8"/>
                </a:solidFill>
                <a:latin typeface="Arial"/>
              </a:rPr>
              <a:t>more than $10 billion</a:t>
            </a:r>
            <a:r>
              <a:rPr sz="1500" b="0">
                <a:solidFill>
                  <a:srgbClr val="E2E8F0"/>
                </a:solidFill>
                <a:latin typeface="Arial"/>
              </a:rPr>
              <a:t>.</a:t>
            </a:r>
          </a:p>
          <a:p>
            <a:pPr>
              <a:lnSpc>
                <a:spcPct val="125000"/>
              </a:lnSpc>
              <a:spcAft>
                <a:spcPts val="1200"/>
              </a:spcAft>
            </a:pPr>
            <a:r>
              <a:rPr sz="1500">
                <a:solidFill>
                  <a:srgbClr val="00E5FF"/>
                </a:solidFill>
                <a:latin typeface="Arial"/>
              </a:rPr>
              <a:t>▪  </a:t>
            </a:r>
            <a:r>
              <a:rPr sz="1500" b="1">
                <a:solidFill>
                  <a:srgbClr val="38BDF8"/>
                </a:solidFill>
                <a:latin typeface="Arial"/>
              </a:rPr>
              <a:t>Digital Forensic Artifacts Examined: </a:t>
            </a:r>
            <a:r>
              <a:rPr sz="1500" b="0">
                <a:solidFill>
                  <a:srgbClr val="E2E8F0"/>
                </a:solidFill>
                <a:latin typeface="Arial"/>
              </a:rPr>
              <a:t>Analyzed malware code/behavior, Windows Event Logs (Event IDs 4688, 7045, 4624), network logs, M.E.Doc updates, credential artifacts, disk images, memory dumps, and MBR modifications.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a:spAutoFit/>
          </a:bodyPr>
          <a:lstStyle/>
          <a:p>
            <a:pPr>
              <a:defRPr sz="1100" b="1">
                <a:solidFill>
                  <a:srgbClr val="00E5FF"/>
                </a:solidFill>
                <a:latin typeface="Arial"/>
              </a:defRPr>
            </a:pPr>
            <a:r>
              <a:t>SLIDE 06 / 06 | ATTRIBUTION, LESSONS &amp; CONCLUSION</a:t>
            </a:r>
          </a:p>
        </p:txBody>
      </p:sp>
      <p:sp>
        <p:nvSpPr>
          <p:cNvPr id="3" name="TextBox 2"/>
          <p:cNvSpPr txBox="1"/>
          <p:nvPr/>
        </p:nvSpPr>
        <p:spPr>
          <a:xfrm>
            <a:off x="731520" y="777240"/>
            <a:ext cx="10728655" cy="731520"/>
          </a:xfrm>
          <a:prstGeom prst="rect">
            <a:avLst/>
          </a:prstGeom>
          <a:noFill/>
        </p:spPr>
        <p:txBody>
          <a:bodyPr wrap="square">
            <a:spAutoFit/>
          </a:bodyPr>
          <a:lstStyle/>
          <a:p>
            <a:pPr>
              <a:defRPr sz="2600" b="1">
                <a:solidFill>
                  <a:srgbClr val="FFFFFF"/>
                </a:solidFill>
                <a:latin typeface="Arial"/>
              </a:defRPr>
            </a:pPr>
            <a:r>
              <a:t>Attribution, Conclusion and Lessons Learned</a:t>
            </a:r>
          </a:p>
        </p:txBody>
      </p:sp>
      <p:sp>
        <p:nvSpPr>
          <p:cNvPr id="4" name="TextBox 3"/>
          <p:cNvSpPr txBox="1"/>
          <p:nvPr/>
        </p:nvSpPr>
        <p:spPr>
          <a:xfrm>
            <a:off x="731520" y="1508760"/>
            <a:ext cx="10728655" cy="91440"/>
          </a:xfrm>
          <a:prstGeom prst="rect">
            <a:avLst/>
          </a:prstGeom>
          <a:noFill/>
        </p:spPr>
        <p:txBody>
          <a:bodyPr wrap="none">
            <a:spAutoFit/>
          </a:bodyPr>
          <a:lstStyle/>
          <a:p>
            <a:pPr>
              <a:defRPr sz="1000">
                <a:solidFill>
                  <a:srgbClr val="64748B"/>
                </a:solidFill>
              </a:defRPr>
            </a:pPr>
            <a:r>
              <a:t>─────────────────────────────────────────────────────────────────────────────────────</a:t>
            </a:r>
          </a:p>
        </p:txBody>
      </p:sp>
      <p:sp>
        <p:nvSpPr>
          <p:cNvPr id="5" name="TextBox 4"/>
          <p:cNvSpPr txBox="1"/>
          <p:nvPr/>
        </p:nvSpPr>
        <p:spPr>
          <a:xfrm>
            <a:off x="731520" y="1645920"/>
            <a:ext cx="10728655" cy="4572000"/>
          </a:xfrm>
          <a:prstGeom prst="rect">
            <a:avLst/>
          </a:prstGeom>
          <a:noFill/>
        </p:spPr>
        <p:txBody>
          <a:bodyPr wrap="square" lIns="0" tIns="0">
            <a:spAutoFit/>
          </a:bodyPr>
          <a:lstStyle/>
          <a:p>
            <a:pPr>
              <a:lnSpc>
                <a:spcPct val="125000"/>
              </a:lnSpc>
              <a:spcAft>
                <a:spcPts val="1200"/>
              </a:spcAft>
            </a:pPr>
            <a:r>
              <a:rPr sz="1500">
                <a:solidFill>
                  <a:srgbClr val="00E5FF"/>
                </a:solidFill>
                <a:latin typeface="Arial"/>
              </a:rPr>
              <a:t>▪  </a:t>
            </a:r>
            <a:r>
              <a:rPr sz="1500" b="1">
                <a:solidFill>
                  <a:srgbClr val="38BDF8"/>
                </a:solidFill>
                <a:latin typeface="Arial"/>
              </a:rPr>
              <a:t>Attribution: </a:t>
            </a:r>
            <a:r>
              <a:rPr sz="1500" b="0">
                <a:solidFill>
                  <a:srgbClr val="E2E8F0"/>
                </a:solidFill>
                <a:latin typeface="Arial"/>
              </a:rPr>
              <a:t>In 2018, US, UK, and Australia publicly attributed NotPetya to Russian military intelligence (</a:t>
            </a:r>
            <a:r>
              <a:rPr sz="1500" b="1">
                <a:solidFill>
                  <a:srgbClr val="38BDF8"/>
                </a:solidFill>
                <a:latin typeface="Arial"/>
              </a:rPr>
              <a:t>GRU / Sandworm</a:t>
            </a:r>
            <a:r>
              <a:rPr sz="1500" b="0">
                <a:solidFill>
                  <a:srgbClr val="E2E8F0"/>
                </a:solidFill>
                <a:latin typeface="Arial"/>
              </a:rPr>
              <a:t>). Russia denied responsibility.</a:t>
            </a:r>
          </a:p>
          <a:p>
            <a:pPr>
              <a:lnSpc>
                <a:spcPct val="125000"/>
              </a:lnSpc>
              <a:spcAft>
                <a:spcPts val="1200"/>
              </a:spcAft>
            </a:pPr>
            <a:r>
              <a:rPr sz="1500">
                <a:solidFill>
                  <a:srgbClr val="00E5FF"/>
                </a:solidFill>
                <a:latin typeface="Arial"/>
              </a:rPr>
              <a:t>▪  </a:t>
            </a:r>
            <a:r>
              <a:rPr sz="1500" b="1">
                <a:solidFill>
                  <a:srgbClr val="38BDF8"/>
                </a:solidFill>
                <a:latin typeface="Arial"/>
              </a:rPr>
              <a:t>Key Cybersecurity Lessons: </a:t>
            </a:r>
            <a:r>
              <a:rPr sz="1500" b="0">
                <a:solidFill>
                  <a:srgbClr val="E2E8F0"/>
                </a:solidFill>
                <a:latin typeface="Arial"/>
              </a:rPr>
              <a:t>Secure software supply chain, patch SMB vulnerabilities quickly, enforce network segmentation, protect admin credentials, apply least-privilege access, maintain offline backups, monitor unusual network activity (PsExec/WMI), and maintain forensic readiness.</a:t>
            </a:r>
          </a:p>
          <a:p>
            <a:pPr>
              <a:lnSpc>
                <a:spcPct val="125000"/>
              </a:lnSpc>
              <a:spcAft>
                <a:spcPts val="1200"/>
              </a:spcAft>
            </a:pPr>
            <a:r>
              <a:rPr sz="1500">
                <a:solidFill>
                  <a:srgbClr val="00E5FF"/>
                </a:solidFill>
                <a:latin typeface="Arial"/>
              </a:rPr>
              <a:t>▪  </a:t>
            </a:r>
            <a:r>
              <a:rPr sz="1500" b="1">
                <a:solidFill>
                  <a:srgbClr val="38BDF8"/>
                </a:solidFill>
                <a:latin typeface="Arial"/>
              </a:rPr>
              <a:t>Final Conclusion: </a:t>
            </a:r>
            <a:r>
              <a:rPr sz="1500" b="0">
                <a:solidFill>
                  <a:srgbClr val="E2E8F0"/>
                </a:solidFill>
                <a:latin typeface="Arial"/>
              </a:rPr>
              <a:t>NotPetya demonstrated that a cyberattack can begin through a trusted software update, spread rapidly through an organization, and cause enormous global damage. Although it appeared to be ransomware, forensic evidence showed that its real capability and purpose were largely destructive.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